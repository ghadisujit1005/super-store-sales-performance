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71" r:id="rId2"/>
    <p:sldId id="274" r:id="rId3"/>
    <p:sldId id="279" r:id="rId4"/>
    <p:sldId id="273" r:id="rId5"/>
    <p:sldId id="266" r:id="rId6"/>
    <p:sldId id="268" r:id="rId7"/>
    <p:sldId id="272" r:id="rId8"/>
    <p:sldId id="270" r:id="rId9"/>
    <p:sldId id="269" r:id="rId10"/>
    <p:sldId id="264" r:id="rId11"/>
    <p:sldId id="276" r:id="rId12"/>
    <p:sldId id="277" r:id="rId13"/>
    <p:sldId id="278" r:id="rId14"/>
    <p:sldId id="257" r:id="rId15"/>
    <p:sldId id="262" r:id="rId16"/>
    <p:sldId id="263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5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2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38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244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55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083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15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6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70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75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512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299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1837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163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27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5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C926-319B-4E94-A1B5-9AAFDCE2292C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DCC549D-2983-4635-B9AB-4A8C26ECD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0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6">
            <a:extLst>
              <a:ext uri="{FF2B5EF4-FFF2-40B4-BE49-F238E27FC236}">
                <a16:creationId xmlns:a16="http://schemas.microsoft.com/office/drawing/2014/main" id="{BC620D9C-3A68-439B-A930-6D97E253CC9F}"/>
              </a:ext>
            </a:extLst>
          </p:cNvPr>
          <p:cNvGrpSpPr/>
          <p:nvPr/>
        </p:nvGrpSpPr>
        <p:grpSpPr>
          <a:xfrm>
            <a:off x="286871" y="1523145"/>
            <a:ext cx="9730900" cy="3221723"/>
            <a:chOff x="190500" y="1598853"/>
            <a:chExt cx="11706098" cy="4076764"/>
          </a:xfrm>
        </p:grpSpPr>
        <p:sp>
          <p:nvSpPr>
            <p:cNvPr id="8" name="object 9">
              <a:extLst>
                <a:ext uri="{FF2B5EF4-FFF2-40B4-BE49-F238E27FC236}">
                  <a16:creationId xmlns:a16="http://schemas.microsoft.com/office/drawing/2014/main" id="{25C6A747-217D-4732-ADCC-E0BC6785F674}"/>
                </a:ext>
              </a:extLst>
            </p:cNvPr>
            <p:cNvSpPr/>
            <p:nvPr/>
          </p:nvSpPr>
          <p:spPr>
            <a:xfrm>
              <a:off x="2323973" y="1665592"/>
              <a:ext cx="9572625" cy="4010025"/>
            </a:xfrm>
            <a:custGeom>
              <a:avLst/>
              <a:gdLst/>
              <a:ahLst/>
              <a:cxnLst/>
              <a:rect l="l" t="t" r="r" b="b"/>
              <a:pathLst>
                <a:path w="9572625" h="4010025">
                  <a:moveTo>
                    <a:pt x="0" y="4009516"/>
                  </a:moveTo>
                  <a:lnTo>
                    <a:pt x="9572371" y="4009516"/>
                  </a:lnTo>
                  <a:lnTo>
                    <a:pt x="9572371" y="0"/>
                  </a:lnTo>
                  <a:lnTo>
                    <a:pt x="0" y="0"/>
                  </a:lnTo>
                  <a:lnTo>
                    <a:pt x="0" y="400951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00752271-91A1-49C0-A3D1-B7955C477BB6}"/>
                </a:ext>
              </a:extLst>
            </p:cNvPr>
            <p:cNvPicPr/>
            <p:nvPr/>
          </p:nvPicPr>
          <p:blipFill>
            <a:blip r:embed="rId2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90500" y="1598853"/>
              <a:ext cx="2157348" cy="4061967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D1F510D-2FB2-4A37-B0D3-9B1B69740166}"/>
              </a:ext>
            </a:extLst>
          </p:cNvPr>
          <p:cNvSpPr txBox="1"/>
          <p:nvPr/>
        </p:nvSpPr>
        <p:spPr>
          <a:xfrm>
            <a:off x="632011" y="544334"/>
            <a:ext cx="9692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</a:rPr>
              <a:t>Super Store Dashboard Using Microsoft Power BI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F1051D-7C1F-404C-A0A0-442B2284A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204" y="1571986"/>
            <a:ext cx="7937567" cy="3157289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5F716EB0-1806-494A-B05A-CF39B81FB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11" y="5246421"/>
            <a:ext cx="969239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Brief: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highlights overall profitable business performance with key contributions from specific customers, products, and regions.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insights from sales, profit, and delivery trends support better decision-making to improve efficiency and revenue growth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4576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065D6-362E-4298-8014-93997C7C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058" y="703730"/>
            <a:ext cx="6624931" cy="842682"/>
          </a:xfrm>
        </p:spPr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Overview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441D9-D528-4D5F-94A8-BF9C0660A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863" y="1797519"/>
            <a:ext cx="8596668" cy="44553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Purpose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Datasets Used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 Descriptions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ETL Process (Extract, Transform, Load)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 Overview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 diagram and explanation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Calculated Columns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Measures &amp; KPIs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 insights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76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41C6C1A-BF9A-4AB9-9634-FEC3861D45DF}"/>
              </a:ext>
            </a:extLst>
          </p:cNvPr>
          <p:cNvSpPr txBox="1"/>
          <p:nvPr/>
        </p:nvSpPr>
        <p:spPr>
          <a:xfrm>
            <a:off x="405244" y="1843224"/>
            <a:ext cx="8915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Analysis: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dataset is used to analyze total sales and profit to understand overall business performance.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Behaviour Analysis: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dataset helps identify top customers, customer profitability, and purchasing patterns.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&amp; Category Analysis: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dataset is used to compare product categories and products to find best-selling and loss-making items.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&amp; Delivery Analysis: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dataset helps analyse sales trends over months and years and evaluate delivery performance using order and ship dates.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8A5E9B-2F36-46E5-A043-1F18E29ED04C}"/>
              </a:ext>
            </a:extLst>
          </p:cNvPr>
          <p:cNvSpPr/>
          <p:nvPr/>
        </p:nvSpPr>
        <p:spPr>
          <a:xfrm>
            <a:off x="2312893" y="533469"/>
            <a:ext cx="4639236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Purpose</a:t>
            </a:r>
            <a:endParaRPr lang="en-IN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52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7BF4A-8B04-4E54-975A-B2012030D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634" y="327211"/>
            <a:ext cx="7996531" cy="708212"/>
          </a:xfrm>
        </p:spPr>
        <p:txBody>
          <a:bodyPr/>
          <a:lstStyle/>
          <a:p>
            <a:pPr algn="ctr"/>
            <a:r>
              <a:rPr lang="en-IN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EC19C-9F5D-4C7B-8C3C-F20BCCC6F258}"/>
              </a:ext>
            </a:extLst>
          </p:cNvPr>
          <p:cNvSpPr/>
          <p:nvPr/>
        </p:nvSpPr>
        <p:spPr>
          <a:xfrm>
            <a:off x="333940" y="1754841"/>
            <a:ext cx="9724459" cy="49888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organization lacks a clear understanding of overall sales and profit performance across different regions and time periods.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There is no systematic way to identify top-performing and loss-making customers, which affects customer relationship and profitability decisions.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Product and category-level performance is not clearly </a:t>
            </a:r>
            <a:r>
              <a:rPr lang="en-IN" sz="1800" dirty="0" err="1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analyzed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making it difficult to optimize inventory and product strategy.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Delivery efficiency and order </a:t>
            </a:r>
            <a:r>
              <a:rPr lang="en-IN" sz="1800" dirty="0" err="1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fulfillment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performance are not monitored effectively, leading to potential delays and customer dissatisfaction.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Decision-makers do not have an interactive and visual dashboard to track key business metrics and support data-driven decision-making.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 business does not have a consolidated view of sales, profit, and order trends to evaluate overall performance effectively.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There is difficulty in identifying profitable and loss-making customers and products due to the absence of structured analytical insights.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Delivery timelines and order status are not systematically </a:t>
            </a:r>
            <a:r>
              <a:rPr lang="en-IN" sz="1800" dirty="0" err="1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analyzed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making it challenging to improve operational efficiency and customer satisfaction.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800" dirty="0"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358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E8CFD-AAF7-4C0C-82A3-7B99422CF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928396"/>
            <a:ext cx="7758953" cy="606490"/>
          </a:xfr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Datasets Used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A40FA-D6D4-445D-A5C1-112A23F7DCC2}"/>
              </a:ext>
            </a:extLst>
          </p:cNvPr>
          <p:cNvSpPr txBox="1"/>
          <p:nvPr/>
        </p:nvSpPr>
        <p:spPr>
          <a:xfrm>
            <a:off x="1183341" y="2672834"/>
            <a:ext cx="6104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Super Store_Sales_Dataset</a:t>
            </a:r>
          </a:p>
        </p:txBody>
      </p:sp>
    </p:spTree>
    <p:extLst>
      <p:ext uri="{BB962C8B-B14F-4D97-AF65-F5344CB8AC3E}">
        <p14:creationId xmlns:p14="http://schemas.microsoft.com/office/powerpoint/2010/main" val="383246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FE4E7F1-D814-4462-A9E6-CE44EF4FC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443" y="543986"/>
            <a:ext cx="7955476" cy="755989"/>
          </a:xfr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Columns Descriptions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053012-3A6E-461D-A482-53AB688E9F4A}"/>
              </a:ext>
            </a:extLst>
          </p:cNvPr>
          <p:cNvSpPr/>
          <p:nvPr/>
        </p:nvSpPr>
        <p:spPr>
          <a:xfrm>
            <a:off x="473240" y="1407552"/>
            <a:ext cx="9708775" cy="63335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Order ID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A unique identifier assigned to each customer order.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Order Date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The date on which the customer placed the order.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Ship Date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The date on which the order was shipped to the customer.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Ship Mode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The method or type of shipping used for order delivery.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Customer ID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A unique identifier assigned to each customer.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Customer Name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The full name of the customer who placed the order.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Segment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The classification of customers based on business type.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Country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The country where the order was placed or delivered.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City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The city where the customer or order is located.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State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The state where the customer or order is located.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Region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The geographical region assigned for sales analysis.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Product ID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A unique identifier assigned to each product.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Category</a:t>
            </a:r>
            <a:r>
              <a:rPr lang="en-IN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The broad classification of products sold by the store.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Name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name or description of the product sold.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total revenue generated from the sale of a product.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Quantity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number of units of a product sold in an order.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financial gain or loss resulting from the sale.</a:t>
            </a:r>
          </a:p>
          <a:p>
            <a:pPr marL="285750" indent="-285750">
              <a:buFont typeface="Symbol" panose="05050102010706020507" pitchFamily="18" charset="2"/>
              <a:buChar char="·"/>
            </a:pPr>
            <a:endParaRPr lang="en-IN" sz="1800" dirty="0"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Clothing).</a:t>
            </a:r>
          </a:p>
        </p:txBody>
      </p:sp>
    </p:spTree>
    <p:extLst>
      <p:ext uri="{BB962C8B-B14F-4D97-AF65-F5344CB8AC3E}">
        <p14:creationId xmlns:p14="http://schemas.microsoft.com/office/powerpoint/2010/main" val="86739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152983-4D57-4B66-8FBD-D34CC12F76B1}"/>
              </a:ext>
            </a:extLst>
          </p:cNvPr>
          <p:cNvSpPr/>
          <p:nvPr/>
        </p:nvSpPr>
        <p:spPr>
          <a:xfrm>
            <a:off x="470646" y="1075765"/>
            <a:ext cx="9170895" cy="3294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Payment Mode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method used by the customer to complete the payment.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Margin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percentage of profit earned relative to sales.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Status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Indicates whether the transaction resulted in profit or loss.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Days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number of days taken to deliver the order.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year in which the order was placed.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Status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Indicates whether the order was delivered on time or delayed.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Status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current stage of the order in the fulfilment process.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Profitability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Indicates whether a customer is profitable or loss-making.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Status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Indicates the performance level of a sale based on sales value.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The month in which the order was placed for trend analysis.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16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E6C2-E5F0-4F17-9A4C-A10B5084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45" y="564779"/>
            <a:ext cx="9603275" cy="678097"/>
          </a:xfr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Data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D63783-B9C4-4D2E-91FF-55D7326F95D2}"/>
              </a:ext>
            </a:extLst>
          </p:cNvPr>
          <p:cNvSpPr/>
          <p:nvPr/>
        </p:nvSpPr>
        <p:spPr>
          <a:xfrm>
            <a:off x="824005" y="1627093"/>
            <a:ext cx="7516907" cy="4477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 – Imported datasets 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Super Store_Sales_Dataset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Renamed and 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column names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nulls and 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ir</a:t>
            </a: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relevant columns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Merged tables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custom columns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duplicates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Filtered unnecessary records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Loaded all transformed tables into Power BI model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relationships</a:t>
            </a:r>
          </a:p>
          <a:p>
            <a:endParaRPr lang="en-IN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 Created:</a:t>
            </a:r>
          </a:p>
        </p:txBody>
      </p:sp>
    </p:spTree>
    <p:extLst>
      <p:ext uri="{BB962C8B-B14F-4D97-AF65-F5344CB8AC3E}">
        <p14:creationId xmlns:p14="http://schemas.microsoft.com/office/powerpoint/2010/main" val="422437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574FB-6ECC-4D43-8D6F-60598F40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22" y="628609"/>
            <a:ext cx="9496642" cy="595073"/>
          </a:xfr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Data Model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625011-544E-43D2-BA01-244EF48A2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50" y="1959387"/>
            <a:ext cx="7687068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71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A5CC3-D5E8-42EB-84E6-D6587436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9575" y="741236"/>
            <a:ext cx="6666072" cy="697600"/>
          </a:xfr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Calculated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Columns  </a:t>
            </a:r>
            <a:endParaRPr lang="en-US" sz="4000" dirty="0">
              <a:latin typeface="Arial Black" panose="020B0A04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A4C8BA-90DC-4806-94EA-2C6A4A274333}"/>
              </a:ext>
            </a:extLst>
          </p:cNvPr>
          <p:cNvSpPr/>
          <p:nvPr/>
        </p:nvSpPr>
        <p:spPr>
          <a:xfrm>
            <a:off x="416859" y="1990165"/>
            <a:ext cx="9238130" cy="32407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Margin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Calculates the percentage of profit earned from total sales.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Status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Indicates whether an order resulted in profit or loss based on profit value.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Days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Calculates the number of days taken between order date and ship date.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Extracts the year from the order date for yearly analysis.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Status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Classifies orders as on-time or delayed based on delivery days.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Status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Represents the current stage of the order in the fulfilment process.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Profitability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Identifies whether a customer is profitable or loss-making overall.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Status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Categorizes sales as high or low based on predefined sales thresholds.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Months</a:t>
            </a:r>
            <a:r>
              <a:rPr lang="en-IN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Extracts the month name from the order date for monthly trend analysis.</a:t>
            </a:r>
          </a:p>
          <a:p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Mathematics with solid fill">
            <a:extLst>
              <a:ext uri="{FF2B5EF4-FFF2-40B4-BE49-F238E27FC236}">
                <a16:creationId xmlns:a16="http://schemas.microsoft.com/office/drawing/2014/main" id="{31C1B428-B87A-4CA7-9E35-B2A229108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92941" y="63283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0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EF72-D3C1-4459-9A7A-BCF542FDA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274" y="577388"/>
            <a:ext cx="7337113" cy="68131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Key Measures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F2E6435-4AD8-4F8E-9EAE-629CC8D85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1" y="1859339"/>
            <a:ext cx="926502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Represents the total revenue generated from all customer orders.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SUM('Super Store_Sales_Dataset'[Sales])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Profit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the overall profit or loss earned from all sales transactions.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SUM('Super Store_Sales_Dataset'[Profit])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IN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Orders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Counts the total number of unique orders placed by customers.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DISTINCTCOUNT('Super Store_Sales_Dataset'[Order ID])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</a:t>
            </a: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Counts the total number of unique customers in the dataset.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DISTINCTCOUNT('Super Store_Sales_Dataset'[Customer ID])</a:t>
            </a:r>
          </a:p>
        </p:txBody>
      </p:sp>
    </p:spTree>
    <p:extLst>
      <p:ext uri="{BB962C8B-B14F-4D97-AF65-F5344CB8AC3E}">
        <p14:creationId xmlns:p14="http://schemas.microsoft.com/office/powerpoint/2010/main" val="614672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C7A22-94DA-42C9-B48D-445A449F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7543" y="508000"/>
            <a:ext cx="6008288" cy="754743"/>
          </a:xfrm>
        </p:spPr>
        <p:txBody>
          <a:bodyPr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Slicer Analysis</a:t>
            </a:r>
            <a:endParaRPr lang="en-IN" dirty="0">
              <a:latin typeface="Arial Black" panose="020B0A040201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EA39CA-7977-4C1F-A6BD-EF384F421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48" y="1867975"/>
            <a:ext cx="8378940" cy="10096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CD6EBF6-B932-4E3E-90C8-FA2810EF9EE5}"/>
              </a:ext>
            </a:extLst>
          </p:cNvPr>
          <p:cNvSpPr txBox="1"/>
          <p:nvPr/>
        </p:nvSpPr>
        <p:spPr>
          <a:xfrm>
            <a:off x="590248" y="3653161"/>
            <a:ext cx="93202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Analysis: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analysis helps understand how sales and profit vary across different customer segments.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analysis evaluates the impact of different shipping modes on delivery performance and profitability.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analysis compares product categories to identify the best-performing and least-performing categories.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analysis shows how applying segment, ship mode, and category filters together affects overall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1184792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1B079-C991-403E-A4C1-7CA2426D8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085" y="420915"/>
            <a:ext cx="5703488" cy="682171"/>
          </a:xfrm>
        </p:spPr>
        <p:txBody>
          <a:bodyPr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Cards Analysis</a:t>
            </a: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65BC0F-03C5-4B7E-9CBF-90DA4BBC5420}"/>
              </a:ext>
            </a:extLst>
          </p:cNvPr>
          <p:cNvSpPr/>
          <p:nvPr/>
        </p:nvSpPr>
        <p:spPr>
          <a:xfrm>
            <a:off x="885372" y="3004458"/>
            <a:ext cx="9855199" cy="3657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2000" b="1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: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800" b="1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Products (25K)-</a:t>
            </a:r>
            <a:r>
              <a:rPr lang="en-IN" sz="1800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Indicates a wide product portfolio, enabling strong assortment and customer choice.</a:t>
            </a:r>
            <a:endParaRPr lang="en-IN" sz="1800" kern="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800" b="1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Revenue (17M)-</a:t>
            </a:r>
            <a:r>
              <a:rPr lang="en-IN" sz="1800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strong financial performance and high sales volume across the business.</a:t>
            </a:r>
            <a:endParaRPr lang="en-IN" sz="1800" kern="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b="1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Shipping Charges</a:t>
            </a:r>
            <a:r>
              <a:rPr lang="en-IN" sz="1800" b="1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(920K)-</a:t>
            </a:r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Shipping Charges represent the total amount spent on delivering orders to customers across all regions.</a:t>
            </a:r>
            <a:endParaRPr lang="en-IN" sz="1800" b="1" kern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800" b="1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Transactions (25K)-</a:t>
            </a:r>
            <a:r>
              <a:rPr lang="en-IN" sz="1800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Suggests most customers have made at least one purchase, showing high engagement.</a:t>
            </a:r>
            <a:endParaRPr lang="en-IN" sz="1800" kern="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800" b="1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Clicks (1M)</a:t>
            </a:r>
            <a:r>
              <a:rPr lang="en-IN" b="1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IN" sz="1800" kern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large number of website/app visits indicates strong digital presence and customer interest, though conversion optimization may increase purchases further.</a:t>
            </a:r>
            <a:endParaRPr lang="en-IN" sz="1800" kern="1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7A964-123E-407A-97A4-BB7E917CF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72" y="1653988"/>
            <a:ext cx="8742722" cy="84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62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52483-6AE1-4F33-A72C-AF64D71B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61" y="142030"/>
            <a:ext cx="10103651" cy="1121993"/>
          </a:xfr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Main KPI, Region, Year &amp; Month Wise Performance</a:t>
            </a:r>
            <a:b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</a:b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FF8AEC-F692-4FF7-A14C-34B57046E026}"/>
              </a:ext>
            </a:extLst>
          </p:cNvPr>
          <p:cNvSpPr/>
          <p:nvPr/>
        </p:nvSpPr>
        <p:spPr>
          <a:xfrm>
            <a:off x="290180" y="1264023"/>
            <a:ext cx="6258538" cy="54519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40A797-2D34-436B-9192-1CE1D6E58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65" y="1368574"/>
            <a:ext cx="6158753" cy="53473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5F3253-1CEB-4CC0-A947-9446307DAE0D}"/>
              </a:ext>
            </a:extLst>
          </p:cNvPr>
          <p:cNvSpPr txBox="1"/>
          <p:nvPr/>
        </p:nvSpPr>
        <p:spPr>
          <a:xfrm>
            <a:off x="6648504" y="1166868"/>
            <a:ext cx="541393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business achieved </a:t>
            </a:r>
            <a:r>
              <a:rPr lang="en-I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of 365K with a profit of 35K</a:t>
            </a: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overall profitable performance.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 in </a:t>
            </a:r>
            <a:r>
              <a:rPr lang="en-I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2019 is higher than in 2020</a:t>
            </a: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a noticeable decline in the later year.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analysis reveals that </a:t>
            </a:r>
            <a:r>
              <a:rPr lang="en-I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peak in months like May and November</a:t>
            </a: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some mid-year months show lower performance.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I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status distribution</a:t>
            </a: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shows that most sales transactions are profitable, with a smaller portion resulting in losses.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payment mode</a:t>
            </a: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contributes the highest share of total sales compared to COD and other payment methods.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few customers contribute significantly to profit, with </a:t>
            </a:r>
            <a:r>
              <a:rPr lang="en-I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Sanjit Engle and Bill Shonely</a:t>
            </a: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emerging as top profit-generating customers.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Product-wise analysis shows that </a:t>
            </a:r>
            <a:r>
              <a:rPr lang="en-I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limited number of products drive the majority of sales and profit</a:t>
            </a: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following a Pareto pattern.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City-wise sales analysis indicates that </a:t>
            </a:r>
            <a:r>
              <a:rPr lang="en-IN" sz="16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major cities such as Chicago and Detroit contribute a large share of total sales</a:t>
            </a:r>
            <a:r>
              <a:rPr lang="en-IN" sz="1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highlighting key regional markets.</a:t>
            </a:r>
          </a:p>
        </p:txBody>
      </p:sp>
    </p:spTree>
    <p:extLst>
      <p:ext uri="{BB962C8B-B14F-4D97-AF65-F5344CB8AC3E}">
        <p14:creationId xmlns:p14="http://schemas.microsoft.com/office/powerpoint/2010/main" val="141534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6225-49C6-4BAA-85EC-946CB8FAF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930" y="537639"/>
            <a:ext cx="6858703" cy="718059"/>
          </a:xfr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4BDABB9-7D15-4FF2-A7D7-E46104379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389" y="2208957"/>
            <a:ext cx="992392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overall analysis shows that the business is profitable, with strong total sales and a positive profit margin.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trends indicate better performance in certain months and a decline in later periods, highlighting opportunities for seasonal planning.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and product analysis reveals that a small group of customers and products contributes significantly to overall profit.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payment mode and major cities play a key role in driving sales, indicating preferred customer behavior and strong regional markets.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and order performance insights suggest the need for continuous monitoring to improve operational efficiency and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2416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0A5C-9ACC-4AE2-8BD3-8332E3335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450" y="522867"/>
            <a:ext cx="7114197" cy="606490"/>
          </a:xfr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Black" panose="020B0A04020102020204" pitchFamily="34" charset="0"/>
              </a:rPr>
              <a:t>Recommendation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98DB1-8F13-4BC7-BE16-3684149EC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73" y="1544640"/>
            <a:ext cx="3203004" cy="443930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56BED12-DB40-4B7D-BDFD-C6AC2E795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4473" y="1683139"/>
            <a:ext cx="81326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business should focus on high-performing months by planning targeted promotions and inventory availability during peak sales periods.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Profitable customers and top-performing products should be prioritized through loyalty programs and personalized offers to maximize revenue.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Loss-making products and low-profit transactions should be reviewed to optimize pricing, cost structure, or discontinue underperforming items.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Online payment methods should be further promoted, as they contribute the highest share of sales and improve transaction efficiency.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 performance should be closely monitored and optimized by improving shipping processes to enhance customer satisfaction and reduce delays.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32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0CCE3366-8211-4AF2-88D2-005D628624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578" y="632012"/>
            <a:ext cx="9704294" cy="533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0119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647</TotalTime>
  <Words>1539</Words>
  <Application>Microsoft Office PowerPoint</Application>
  <PresentationFormat>Widescreen</PresentationFormat>
  <Paragraphs>146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Cambria</vt:lpstr>
      <vt:lpstr>Symbol</vt:lpstr>
      <vt:lpstr>Trebuchet MS</vt:lpstr>
      <vt:lpstr>Wingdings</vt:lpstr>
      <vt:lpstr>Wingdings 3</vt:lpstr>
      <vt:lpstr>Facet</vt:lpstr>
      <vt:lpstr>PowerPoint Presentation</vt:lpstr>
      <vt:lpstr>Overview</vt:lpstr>
      <vt:lpstr>PowerPoint Presentation</vt:lpstr>
      <vt:lpstr>Problem Statement</vt:lpstr>
      <vt:lpstr>Datasets Used </vt:lpstr>
      <vt:lpstr>Columns Descriptions </vt:lpstr>
      <vt:lpstr>PowerPoint Presentation</vt:lpstr>
      <vt:lpstr>Data Preprocessing</vt:lpstr>
      <vt:lpstr>Data Model Overview</vt:lpstr>
      <vt:lpstr>Calculated Columns  </vt:lpstr>
      <vt:lpstr>Key Measures</vt:lpstr>
      <vt:lpstr>Slicer Analysis</vt:lpstr>
      <vt:lpstr>Cards Analysis</vt:lpstr>
      <vt:lpstr>Main KPI, Region, Year &amp; Month Wise Performance </vt:lpstr>
      <vt:lpstr>Conclusion</vt:lpstr>
      <vt:lpstr>Recommendation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Sujit Ghadi</cp:lastModifiedBy>
  <cp:revision>68</cp:revision>
  <dcterms:created xsi:type="dcterms:W3CDTF">2025-08-06T15:32:27Z</dcterms:created>
  <dcterms:modified xsi:type="dcterms:W3CDTF">2025-12-31T10:26:37Z</dcterms:modified>
</cp:coreProperties>
</file>